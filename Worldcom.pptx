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8" r:id="rId2"/>
  </p:sldMasterIdLst>
  <p:notesMasterIdLst>
    <p:notesMasterId r:id="rId14"/>
  </p:notesMasterIdLst>
  <p:sldIdLst>
    <p:sldId id="256" r:id="rId3"/>
    <p:sldId id="264" r:id="rId4"/>
    <p:sldId id="266" r:id="rId5"/>
    <p:sldId id="267" r:id="rId6"/>
    <p:sldId id="271" r:id="rId7"/>
    <p:sldId id="268" r:id="rId8"/>
    <p:sldId id="272" r:id="rId9"/>
    <p:sldId id="273" r:id="rId10"/>
    <p:sldId id="276" r:id="rId11"/>
    <p:sldId id="277" r:id="rId12"/>
    <p:sldId id="270" r:id="rId13"/>
  </p:sldIdLst>
  <p:sldSz cx="9144000" cy="5143500" type="screen16x9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70F68-1FA2-4526-8EBA-8773AFAFD969}" type="datetimeFigureOut">
              <a:rPr lang="hr-HR" smtClean="0"/>
              <a:t>1.4.2026.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3F5C0-D483-4306-AD1A-572D1A1FDC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0316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359000" y="859320"/>
            <a:ext cx="6426000" cy="294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" name="Google Shape;12;p2"/>
          <p:cNvPicPr/>
          <p:nvPr/>
        </p:nvPicPr>
        <p:blipFill>
          <a:blip r:embed="rId3"/>
          <a:stretch/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Google Shape;13;p2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Google Shape;14;p2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7662240" y="2370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71;p1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988280" y="1728360"/>
            <a:ext cx="516672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" name="Google Shape;74;p11"/>
          <p:cNvPicPr/>
          <p:nvPr/>
        </p:nvPicPr>
        <p:blipFill>
          <a:blip r:embed="rId3"/>
          <a:stretch/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Google Shape;75;p11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Google Shape;76;p11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7662240" y="2370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79;p13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720000" y="140292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title"/>
          </p:nvPr>
        </p:nvSpPr>
        <p:spPr>
          <a:xfrm>
            <a:off x="720000" y="3075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3419280" y="140292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title"/>
          </p:nvPr>
        </p:nvSpPr>
        <p:spPr>
          <a:xfrm>
            <a:off x="3419280" y="3075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title"/>
          </p:nvPr>
        </p:nvSpPr>
        <p:spPr>
          <a:xfrm>
            <a:off x="6118560" y="140292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7"/>
          <p:cNvSpPr>
            <a:spLocks noGrp="1"/>
          </p:cNvSpPr>
          <p:nvPr>
            <p:ph type="title"/>
          </p:nvPr>
        </p:nvSpPr>
        <p:spPr>
          <a:xfrm>
            <a:off x="6118560" y="3075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1" name="Google Shape;93;p13"/>
          <p:cNvPicPr/>
          <p:nvPr/>
        </p:nvPicPr>
        <p:blipFill>
          <a:blip r:embed="rId3"/>
          <a:stretch/>
        </p:blipFill>
        <p:spPr>
          <a:xfrm>
            <a:off x="6754320" y="-300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oogle Shape;94;p13"/>
          <p:cNvPicPr/>
          <p:nvPr/>
        </p:nvPicPr>
        <p:blipFill>
          <a:blip r:embed="rId3">
            <a:alphaModFix amt="23000"/>
          </a:blip>
          <a:stretch/>
        </p:blipFill>
        <p:spPr>
          <a:xfrm>
            <a:off x="-44640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Google Shape;95;p13"/>
          <p:cNvPicPr/>
          <p:nvPr/>
        </p:nvPicPr>
        <p:blipFill>
          <a:blip r:embed="rId3">
            <a:alphaModFix amt="36000"/>
          </a:blip>
          <a:stretch/>
        </p:blipFill>
        <p:spPr>
          <a:xfrm>
            <a:off x="8206200" y="1492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7;p14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052440" y="3100320"/>
            <a:ext cx="5378040" cy="66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6" name="Google Shape;100;p14"/>
          <p:cNvPicPr/>
          <p:nvPr/>
        </p:nvPicPr>
        <p:blipFill>
          <a:blip r:embed="rId3">
            <a:alphaModFix amt="86000"/>
          </a:blip>
          <a:stretch/>
        </p:blipFill>
        <p:spPr>
          <a:xfrm>
            <a:off x="3772080" y="-645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Google Shape;101;p14"/>
          <p:cNvPicPr/>
          <p:nvPr/>
        </p:nvPicPr>
        <p:blipFill>
          <a:blip r:embed="rId3">
            <a:alphaModFix amt="24000"/>
          </a:blip>
          <a:stretch/>
        </p:blipFill>
        <p:spPr>
          <a:xfrm>
            <a:off x="0" y="2662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102;p14"/>
          <p:cNvPicPr/>
          <p:nvPr/>
        </p:nvPicPr>
        <p:blipFill>
          <a:blip r:embed="rId3">
            <a:alphaModFix amt="35000"/>
          </a:blip>
          <a:stretch/>
        </p:blipFill>
        <p:spPr>
          <a:xfrm>
            <a:off x="797580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4;p15"/>
          <p:cNvPicPr/>
          <p:nvPr/>
        </p:nvPicPr>
        <p:blipFill>
          <a:blip r:embed="rId2">
            <a:alphaModFix amt="86000"/>
          </a:blip>
          <a:stretch/>
        </p:blipFill>
        <p:spPr>
          <a:xfrm>
            <a:off x="2890080" y="-128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05;p15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53720" y="1485360"/>
            <a:ext cx="3519360" cy="1116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70920" y="1013040"/>
            <a:ext cx="3117240" cy="31172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33" name="Google Shape;109;p15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-237240" y="3166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110;p15"/>
          <p:cNvPicPr/>
          <p:nvPr/>
        </p:nvPicPr>
        <p:blipFill>
          <a:blip r:embed="rId2">
            <a:alphaModFix amt="75000"/>
          </a:blip>
          <a:stretch/>
        </p:blipFill>
        <p:spPr>
          <a:xfrm>
            <a:off x="8173440" y="3242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12;p16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303200" y="967320"/>
            <a:ext cx="6537240" cy="92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7" name="Google Shape;115;p16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-542160" y="-5943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Google Shape;116;p16"/>
          <p:cNvPicPr/>
          <p:nvPr/>
        </p:nvPicPr>
        <p:blipFill>
          <a:blip r:embed="rId3">
            <a:alphaModFix amt="75000"/>
          </a:blip>
          <a:stretch/>
        </p:blipFill>
        <p:spPr>
          <a:xfrm>
            <a:off x="2921400" y="3915720"/>
            <a:ext cx="2209680" cy="220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117;p16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8065800" y="1046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19;p17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0000" y="1637640"/>
            <a:ext cx="3597480" cy="106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3" name="Google Shape;122;p17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7662240" y="7999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Google Shape;123;p17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Google Shape;124;p17"/>
          <p:cNvPicPr/>
          <p:nvPr/>
        </p:nvPicPr>
        <p:blipFill>
          <a:blip r:embed="rId3"/>
          <a:stretch/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Google Shape;125;p17"/>
          <p:cNvPicPr/>
          <p:nvPr/>
        </p:nvPicPr>
        <p:blipFill>
          <a:blip r:embed="rId3"/>
          <a:stretch/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oogle Shape;126;p17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28;p18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837320" y="1501200"/>
            <a:ext cx="3593160" cy="106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0" name="Google Shape;131;p18"/>
          <p:cNvPicPr/>
          <p:nvPr/>
        </p:nvPicPr>
        <p:blipFill>
          <a:blip r:embed="rId3"/>
          <a:stretch/>
        </p:blipFill>
        <p:spPr>
          <a:xfrm rot="10800000" flipH="1">
            <a:off x="-237240" y="3654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Google Shape;132;p18"/>
          <p:cNvPicPr/>
          <p:nvPr/>
        </p:nvPicPr>
        <p:blipFill>
          <a:blip r:embed="rId3">
            <a:alphaModFix amt="30000"/>
          </a:blip>
          <a:stretch/>
        </p:blipFill>
        <p:spPr>
          <a:xfrm rot="10800000" flipH="1">
            <a:off x="449280" y="-469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Google Shape;133;p18"/>
          <p:cNvPicPr/>
          <p:nvPr/>
        </p:nvPicPr>
        <p:blipFill>
          <a:blip r:embed="rId3">
            <a:alphaModFix amt="60000"/>
          </a:blip>
          <a:stretch/>
        </p:blipFill>
        <p:spPr>
          <a:xfrm rot="10800000" flipH="1">
            <a:off x="7662240" y="-250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35;p1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5" name="Google Shape;141;p19"/>
          <p:cNvPicPr/>
          <p:nvPr/>
        </p:nvPicPr>
        <p:blipFill>
          <a:blip r:embed="rId3"/>
          <a:stretch/>
        </p:blipFill>
        <p:spPr>
          <a:xfrm>
            <a:off x="-927000" y="-462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Google Shape;142;p19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19944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Google Shape;143;p19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7735680" y="4449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45;p20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60" name="Google Shape;149;p20"/>
          <p:cNvPicPr/>
          <p:nvPr/>
        </p:nvPicPr>
        <p:blipFill>
          <a:blip r:embed="rId3">
            <a:alphaModFix amt="52000"/>
          </a:blip>
          <a:stretch/>
        </p:blipFill>
        <p:spPr>
          <a:xfrm>
            <a:off x="-465840" y="3764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Google Shape;150;p20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8322480" y="14900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151;p20"/>
          <p:cNvPicPr/>
          <p:nvPr/>
        </p:nvPicPr>
        <p:blipFill>
          <a:blip r:embed="rId3">
            <a:alphaModFix amt="76000"/>
          </a:blip>
          <a:stretch/>
        </p:blipFill>
        <p:spPr>
          <a:xfrm>
            <a:off x="7480440" y="-969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16;p3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24120" y="2208600"/>
            <a:ext cx="3539520" cy="151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924120" y="1013040"/>
            <a:ext cx="127692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009040" y="1013040"/>
            <a:ext cx="3117240" cy="31172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67" name="Google Shape;20;p3"/>
          <p:cNvPicPr/>
          <p:nvPr/>
        </p:nvPicPr>
        <p:blipFill>
          <a:blip r:embed="rId3">
            <a:alphaModFix amt="60000"/>
          </a:blip>
          <a:stretch/>
        </p:blipFill>
        <p:spPr>
          <a:xfrm flipH="1">
            <a:off x="-770040" y="-14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21;p3"/>
          <p:cNvPicPr/>
          <p:nvPr/>
        </p:nvPicPr>
        <p:blipFill>
          <a:blip r:embed="rId3">
            <a:alphaModFix amt="30000"/>
          </a:blip>
          <a:stretch/>
        </p:blipFill>
        <p:spPr>
          <a:xfrm flipH="1">
            <a:off x="5366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53;p2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71" name="Google Shape;161;p21"/>
          <p:cNvPicPr/>
          <p:nvPr/>
        </p:nvPicPr>
        <p:blipFill>
          <a:blip r:embed="rId3">
            <a:alphaModFix amt="60000"/>
          </a:blip>
          <a:stretch/>
        </p:blipFill>
        <p:spPr>
          <a:xfrm rot="10800000" flipH="1">
            <a:off x="-1187640" y="1585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162;p21"/>
          <p:cNvPicPr/>
          <p:nvPr/>
        </p:nvPicPr>
        <p:blipFill>
          <a:blip r:embed="rId3">
            <a:alphaModFix amt="30000"/>
          </a:blip>
          <a:stretch/>
        </p:blipFill>
        <p:spPr>
          <a:xfrm rot="10800000" flipH="1">
            <a:off x="3919680" y="-920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163;p21"/>
          <p:cNvPicPr/>
          <p:nvPr/>
        </p:nvPicPr>
        <p:blipFill>
          <a:blip r:embed="rId3"/>
          <a:stretch/>
        </p:blipFill>
        <p:spPr>
          <a:xfrm rot="10800000" flipH="1">
            <a:off x="7997760" y="3714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65;p22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76" name="Google Shape;175;p22"/>
          <p:cNvPicPr/>
          <p:nvPr/>
        </p:nvPicPr>
        <p:blipFill>
          <a:blip r:embed="rId3"/>
          <a:stretch/>
        </p:blipFill>
        <p:spPr>
          <a:xfrm>
            <a:off x="-1051560" y="7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76;p22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6142680" y="43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77;p22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7948440" y="983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179;p23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81" name="Google Shape;193;p23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8424000" y="1269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94;p23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-901080" y="3800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195;p23"/>
          <p:cNvPicPr/>
          <p:nvPr/>
        </p:nvPicPr>
        <p:blipFill>
          <a:blip r:embed="rId3"/>
          <a:stretch/>
        </p:blipFill>
        <p:spPr>
          <a:xfrm>
            <a:off x="7243200" y="-968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197;p24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13160" y="618480"/>
            <a:ext cx="38721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2635920" y="1970640"/>
            <a:ext cx="38721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title"/>
          </p:nvPr>
        </p:nvSpPr>
        <p:spPr>
          <a:xfrm>
            <a:off x="4558320" y="3322800"/>
            <a:ext cx="38721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8" name="Google Shape;204;p24"/>
          <p:cNvPicPr/>
          <p:nvPr/>
        </p:nvPicPr>
        <p:blipFill>
          <a:blip r:embed="rId3"/>
          <a:stretch/>
        </p:blipFill>
        <p:spPr>
          <a:xfrm>
            <a:off x="151560" y="29926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205;p24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5365080" y="-8092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206;p24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7075080" y="1091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208;p25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93" name="Google Shape;210;p25"/>
          <p:cNvPicPr/>
          <p:nvPr/>
        </p:nvPicPr>
        <p:blipFill>
          <a:blip r:embed="rId3">
            <a:alphaModFix amt="36000"/>
          </a:blip>
          <a:stretch/>
        </p:blipFill>
        <p:spPr>
          <a:xfrm>
            <a:off x="-772920" y="4005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oogle Shape;211;p25"/>
          <p:cNvPicPr/>
          <p:nvPr/>
        </p:nvPicPr>
        <p:blipFill>
          <a:blip r:embed="rId3">
            <a:alphaModFix amt="23000"/>
          </a:blip>
          <a:stretch/>
        </p:blipFill>
        <p:spPr>
          <a:xfrm>
            <a:off x="8203680" y="2063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oogle Shape;212;p25"/>
          <p:cNvPicPr/>
          <p:nvPr/>
        </p:nvPicPr>
        <p:blipFill>
          <a:blip r:embed="rId3"/>
          <a:stretch/>
        </p:blipFill>
        <p:spPr>
          <a:xfrm>
            <a:off x="5375520" y="-1262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214;p26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98" name="Google Shape;216;p26"/>
          <p:cNvPicPr/>
          <p:nvPr/>
        </p:nvPicPr>
        <p:blipFill>
          <a:blip r:embed="rId3">
            <a:alphaModFix amt="36000"/>
          </a:blip>
          <a:stretch/>
        </p:blipFill>
        <p:spPr>
          <a:xfrm>
            <a:off x="-1180800" y="10177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217;p26"/>
          <p:cNvPicPr/>
          <p:nvPr/>
        </p:nvPicPr>
        <p:blipFill>
          <a:blip r:embed="rId3">
            <a:alphaModFix amt="23000"/>
          </a:blip>
          <a:stretch/>
        </p:blipFill>
        <p:spPr>
          <a:xfrm>
            <a:off x="415080" y="-11203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218;p26"/>
          <p:cNvPicPr/>
          <p:nvPr/>
        </p:nvPicPr>
        <p:blipFill>
          <a:blip r:embed="rId3"/>
          <a:stretch/>
        </p:blipFill>
        <p:spPr>
          <a:xfrm>
            <a:off x="8331120" y="3718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220;p27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03" name="Google Shape;222;p27"/>
          <p:cNvPicPr/>
          <p:nvPr/>
        </p:nvPicPr>
        <p:blipFill>
          <a:blip r:embed="rId3">
            <a:alphaModFix amt="36000"/>
          </a:blip>
          <a:stretch/>
        </p:blipFill>
        <p:spPr>
          <a:xfrm>
            <a:off x="812880" y="4344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Google Shape;223;p27"/>
          <p:cNvPicPr/>
          <p:nvPr/>
        </p:nvPicPr>
        <p:blipFill>
          <a:blip r:embed="rId3">
            <a:alphaModFix amt="23000"/>
          </a:blip>
          <a:stretch/>
        </p:blipFill>
        <p:spPr>
          <a:xfrm>
            <a:off x="4479120" y="-1361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224;p27"/>
          <p:cNvPicPr/>
          <p:nvPr/>
        </p:nvPicPr>
        <p:blipFill>
          <a:blip r:embed="rId3"/>
          <a:stretch/>
        </p:blipFill>
        <p:spPr>
          <a:xfrm>
            <a:off x="8430840" y="1508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226;p28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347920" y="8384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8" name="Google Shape;229;p28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  <a:hlinkClick r:id="rId4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  <a:hlinkClick r:id="rId5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09" name="Google Shape;230;p28"/>
          <p:cNvPicPr/>
          <p:nvPr/>
        </p:nvPicPr>
        <p:blipFill>
          <a:blip r:embed="rId6">
            <a:alphaModFix amt="86000"/>
          </a:blip>
          <a:stretch/>
        </p:blipFill>
        <p:spPr>
          <a:xfrm>
            <a:off x="1143720" y="-311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oogle Shape;231;p28"/>
          <p:cNvPicPr/>
          <p:nvPr/>
        </p:nvPicPr>
        <p:blipFill>
          <a:blip r:embed="rId6">
            <a:alphaModFix amt="25000"/>
          </a:blip>
          <a:stretch/>
        </p:blipFill>
        <p:spPr>
          <a:xfrm>
            <a:off x="-92880" y="2086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232;p28"/>
          <p:cNvPicPr/>
          <p:nvPr/>
        </p:nvPicPr>
        <p:blipFill>
          <a:blip r:embed="rId6">
            <a:alphaModFix amt="35000"/>
          </a:blip>
          <a:stretch/>
        </p:blipFill>
        <p:spPr>
          <a:xfrm>
            <a:off x="6377400" y="474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233;p28"/>
          <p:cNvPicPr/>
          <p:nvPr/>
        </p:nvPicPr>
        <p:blipFill>
          <a:blip r:embed="rId6">
            <a:alphaModFix amt="75000"/>
          </a:blip>
          <a:stretch/>
        </p:blipFill>
        <p:spPr>
          <a:xfrm>
            <a:off x="7865640" y="3422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235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236;p29"/>
          <p:cNvPicPr/>
          <p:nvPr/>
        </p:nvPicPr>
        <p:blipFill>
          <a:blip r:embed="rId3"/>
          <a:stretch/>
        </p:blipFill>
        <p:spPr>
          <a:xfrm>
            <a:off x="-1051560" y="7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237;p29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6142680" y="43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Google Shape;238;p29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7948440" y="983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40;p30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241;p30"/>
          <p:cNvPicPr/>
          <p:nvPr/>
        </p:nvPicPr>
        <p:blipFill>
          <a:blip r:embed="rId3">
            <a:alphaModFix amt="36000"/>
          </a:blip>
          <a:stretch/>
        </p:blipFill>
        <p:spPr>
          <a:xfrm>
            <a:off x="812880" y="4344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Google Shape;242;p30"/>
          <p:cNvPicPr/>
          <p:nvPr/>
        </p:nvPicPr>
        <p:blipFill>
          <a:blip r:embed="rId3">
            <a:alphaModFix amt="23000"/>
          </a:blip>
          <a:stretch/>
        </p:blipFill>
        <p:spPr>
          <a:xfrm>
            <a:off x="4479120" y="-1361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Google Shape;243;p30"/>
          <p:cNvPicPr/>
          <p:nvPr/>
        </p:nvPicPr>
        <p:blipFill>
          <a:blip r:embed="rId3"/>
          <a:stretch/>
        </p:blipFill>
        <p:spPr>
          <a:xfrm>
            <a:off x="8430840" y="1508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23;p4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124" name="Google Shape;26;p4"/>
          <p:cNvPicPr/>
          <p:nvPr/>
        </p:nvPicPr>
        <p:blipFill>
          <a:blip r:embed="rId3">
            <a:alphaModFix amt="86000"/>
          </a:blip>
          <a:stretch/>
        </p:blipFill>
        <p:spPr>
          <a:xfrm>
            <a:off x="7556760" y="-685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27;p4"/>
          <p:cNvPicPr/>
          <p:nvPr/>
        </p:nvPicPr>
        <p:blipFill>
          <a:blip r:embed="rId3">
            <a:alphaModFix amt="35000"/>
          </a:blip>
          <a:stretch/>
        </p:blipFill>
        <p:spPr>
          <a:xfrm>
            <a:off x="3621600" y="42217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8;p4"/>
          <p:cNvPicPr/>
          <p:nvPr/>
        </p:nvPicPr>
        <p:blipFill>
          <a:blip r:embed="rId3">
            <a:alphaModFix amt="35000"/>
          </a:blip>
          <a:stretch/>
        </p:blipFill>
        <p:spPr>
          <a:xfrm>
            <a:off x="-996480" y="695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30;p5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29" name="Google Shape;36;p5"/>
          <p:cNvPicPr/>
          <p:nvPr/>
        </p:nvPicPr>
        <p:blipFill>
          <a:blip r:embed="rId3"/>
          <a:stretch/>
        </p:blipFill>
        <p:spPr>
          <a:xfrm>
            <a:off x="675540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37;p5"/>
          <p:cNvPicPr/>
          <p:nvPr/>
        </p:nvPicPr>
        <p:blipFill>
          <a:blip r:embed="rId3">
            <a:alphaModFix amt="60000"/>
          </a:blip>
          <a:stretch/>
        </p:blipFill>
        <p:spPr>
          <a:xfrm>
            <a:off x="7867440" y="3122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38;p5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-747000" y="1665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40;p6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34" name="Google Shape;42;p6"/>
          <p:cNvPicPr/>
          <p:nvPr/>
        </p:nvPicPr>
        <p:blipFill>
          <a:blip r:embed="rId3"/>
          <a:stretch/>
        </p:blipFill>
        <p:spPr>
          <a:xfrm>
            <a:off x="7815600" y="-411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43;p6"/>
          <p:cNvPicPr/>
          <p:nvPr/>
        </p:nvPicPr>
        <p:blipFill>
          <a:blip r:embed="rId3">
            <a:alphaModFix amt="36000"/>
          </a:blip>
          <a:stretch/>
        </p:blipFill>
        <p:spPr>
          <a:xfrm>
            <a:off x="-1064880" y="1954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44;p6"/>
          <p:cNvPicPr/>
          <p:nvPr/>
        </p:nvPicPr>
        <p:blipFill>
          <a:blip r:embed="rId3">
            <a:alphaModFix amt="23000"/>
          </a:blip>
          <a:stretch/>
        </p:blipFill>
        <p:spPr>
          <a:xfrm>
            <a:off x="6861960" y="4101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46;p7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720000" y="1820520"/>
            <a:ext cx="2429280" cy="15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40" name="Google Shape;49;p7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-859680" y="3229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Google Shape;50;p7"/>
          <p:cNvPicPr/>
          <p:nvPr/>
        </p:nvPicPr>
        <p:blipFill>
          <a:blip r:embed="rId3">
            <a:alphaModFix amt="86000"/>
          </a:blip>
          <a:stretch/>
        </p:blipFill>
        <p:spPr>
          <a:xfrm>
            <a:off x="2600640" y="-749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51;p7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7643520" y="3592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53;p8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768680" y="1710000"/>
            <a:ext cx="5606640" cy="17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45" name="Google Shape;55;p8"/>
          <p:cNvPicPr/>
          <p:nvPr/>
        </p:nvPicPr>
        <p:blipFill>
          <a:blip r:embed="rId3">
            <a:alphaModFix amt="86000"/>
          </a:blip>
          <a:stretch/>
        </p:blipFill>
        <p:spPr>
          <a:xfrm>
            <a:off x="-81720" y="-918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Google Shape;56;p8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619560" y="3592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Google Shape;57;p8"/>
          <p:cNvPicPr/>
          <p:nvPr/>
        </p:nvPicPr>
        <p:blipFill>
          <a:blip r:embed="rId3">
            <a:alphaModFix amt="35000"/>
          </a:blip>
          <a:stretch/>
        </p:blipFill>
        <p:spPr>
          <a:xfrm>
            <a:off x="6392160" y="1663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Google Shape;58;p8"/>
          <p:cNvPicPr/>
          <p:nvPr/>
        </p:nvPicPr>
        <p:blipFill>
          <a:blip r:embed="rId3">
            <a:alphaModFix amt="75000"/>
          </a:blip>
          <a:stretch/>
        </p:blipFill>
        <p:spPr>
          <a:xfrm>
            <a:off x="7953840" y="2702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60;p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2380680" y="1441800"/>
            <a:ext cx="438228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51" name="Google Shape;63;p9"/>
          <p:cNvPicPr/>
          <p:nvPr/>
        </p:nvPicPr>
        <p:blipFill>
          <a:blip r:embed="rId3">
            <a:alphaModFix amt="86000"/>
          </a:blip>
          <a:stretch/>
        </p:blipFill>
        <p:spPr>
          <a:xfrm>
            <a:off x="974880" y="172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oogle Shape;64;p9"/>
          <p:cNvPicPr/>
          <p:nvPr/>
        </p:nvPicPr>
        <p:blipFill>
          <a:blip r:embed="rId3">
            <a:alphaModFix amt="25000"/>
          </a:blip>
          <a:stretch/>
        </p:blipFill>
        <p:spPr>
          <a:xfrm>
            <a:off x="-143640" y="2073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Google Shape;65;p9"/>
          <p:cNvPicPr/>
          <p:nvPr/>
        </p:nvPicPr>
        <p:blipFill>
          <a:blip r:embed="rId3">
            <a:alphaModFix amt="35000"/>
          </a:blip>
          <a:stretch/>
        </p:blipFill>
        <p:spPr>
          <a:xfrm>
            <a:off x="6377400" y="474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Google Shape;66;p9"/>
          <p:cNvPicPr/>
          <p:nvPr/>
        </p:nvPicPr>
        <p:blipFill>
          <a:blip r:embed="rId3">
            <a:alphaModFix amt="75000"/>
          </a:blip>
          <a:stretch/>
        </p:blipFill>
        <p:spPr>
          <a:xfrm>
            <a:off x="7785000" y="2784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permoney.com/encyclopedia/worldcom-scandal" TargetMode="External"/><Relationship Id="rId2" Type="http://schemas.openxmlformats.org/officeDocument/2006/relationships/hyperlink" Target="https://financefacts101.com/worldcom-the-largest-telecom-accounting-scandal-in-us-history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en.wikipedia.org/wiki/WorldCom_scandal" TargetMode="External"/><Relationship Id="rId4" Type="http://schemas.openxmlformats.org/officeDocument/2006/relationships/hyperlink" Target="https://www.investopedia.com/terms/w/worldcom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362240" y="857160"/>
            <a:ext cx="6428880" cy="29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r-HR" sz="4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dvent Pro"/>
                <a:cs typeface="Times New Roman" panose="02020603050405020304" pitchFamily="18" charset="0"/>
              </a:rPr>
              <a:t>STUDIJA SLUČAJA</a:t>
            </a: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dvent Pro"/>
                <a:cs typeface="Times New Roman" panose="02020603050405020304" pitchFamily="18" charset="0"/>
              </a:rPr>
              <a:t>:</a:t>
            </a:r>
            <a:r>
              <a:rPr lang="hr-HR" sz="4800" b="1" dirty="0">
                <a:solidFill>
                  <a:schemeClr val="dk1"/>
                </a:solidFill>
                <a:latin typeface="Times New Roman" panose="02020603050405020304" pitchFamily="18" charset="0"/>
                <a:ea typeface="Advent Pro"/>
                <a:cs typeface="Times New Roman" panose="02020603050405020304" pitchFamily="18" charset="0"/>
              </a:rPr>
              <a:t> </a:t>
            </a:r>
            <a:r>
              <a:rPr lang="en-US" sz="4800" b="1" u="none" strike="noStrike" dirty="0" err="1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dvent Pro"/>
                <a:cs typeface="Times New Roman" panose="02020603050405020304" pitchFamily="18" charset="0"/>
              </a:rPr>
              <a:t>Worldcom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ubTitle"/>
          </p:nvPr>
        </p:nvSpPr>
        <p:spPr>
          <a:xfrm>
            <a:off x="1362240" y="3809880"/>
            <a:ext cx="64288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buNone/>
            </a:pP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ssistant"/>
                <a:cs typeface="Times New Roman" panose="02020603050405020304" pitchFamily="18" charset="0"/>
              </a:rPr>
              <a:t>Forenzičko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ssistant"/>
                <a:cs typeface="Times New Roman" panose="02020603050405020304" pitchFamily="18" charset="0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ssistant"/>
                <a:cs typeface="Times New Roman" panose="02020603050405020304" pitchFamily="18" charset="0"/>
              </a:rPr>
              <a:t>računovodstvo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ssistant"/>
                <a:cs typeface="Times New Roman" panose="02020603050405020304" pitchFamily="18" charset="0"/>
              </a:rPr>
              <a:t>Anastazija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ssistant"/>
                <a:cs typeface="Times New Roman" panose="02020603050405020304" pitchFamily="18" charset="0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ssistant"/>
                <a:cs typeface="Times New Roman" panose="02020603050405020304" pitchFamily="18" charset="0"/>
              </a:rPr>
              <a:t>Širol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05180" y="928724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r-HR" sz="30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Worldcom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1305000" y="1962000"/>
            <a:ext cx="3267000" cy="268685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hr-HR" sz="12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odeća američk</a:t>
            </a: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telekomunikacijska tvrtka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Osnovana 1983. (Bernard </a:t>
            </a:r>
            <a:r>
              <a:rPr lang="hr-HR" sz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Ebbers</a:t>
            </a: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 partneri)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Brzi rast putem akvizicija (30+ tvrtki)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Smanjenje prihoda i gubici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Prikaz dobiti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“Ako je predobro da bi bilo istinito – vjerojatno jest”</a:t>
            </a:r>
          </a:p>
        </p:txBody>
      </p:sp>
      <p:pic>
        <p:nvPicPr>
          <p:cNvPr id="1026" name="Picture 2" descr="From Enron to Facebook, the biggest business scandals of recent times ...">
            <a:extLst>
              <a:ext uri="{FF2B5EF4-FFF2-40B4-BE49-F238E27FC236}">
                <a16:creationId xmlns:a16="http://schemas.microsoft.com/office/drawing/2014/main" id="{B444E26A-752D-414D-8117-521A73108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374" y="1307268"/>
            <a:ext cx="4164626" cy="268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05180" y="928724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r-HR" sz="3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Financijski problemi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1305000" y="1962000"/>
            <a:ext cx="3267000" cy="22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hr-HR" sz="12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rajem 1990.-ih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Pad potražnje za telekomunikacijske usluge</a:t>
            </a:r>
            <a:endParaRPr lang="hr-HR" sz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Smanjenje prihoda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Nastavak agresivnih akvizicija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Inequality and growth">
            <a:extLst>
              <a:ext uri="{FF2B5EF4-FFF2-40B4-BE49-F238E27FC236}">
                <a16:creationId xmlns:a16="http://schemas.microsoft.com/office/drawing/2014/main" id="{0379D861-12DF-46CF-9585-89AC526E3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960" y="1527374"/>
            <a:ext cx="3749040" cy="208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098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05180" y="928724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r-HR" sz="3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Računovodstvene tehnike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1305000" y="1962000"/>
            <a:ext cx="3267000" cy="22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Cilj: prikazati lažnu profitabilnost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Ključna tehnika: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 Kapitalizacija troškova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Posljedice: </a:t>
            </a:r>
          </a:p>
          <a:p>
            <a:pPr marL="171450" indent="-171450">
              <a:lnSpc>
                <a:spcPct val="150000"/>
              </a:lnSpc>
              <a:buFontTx/>
              <a:buChar char="-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Umjetno povećan profit</a:t>
            </a:r>
          </a:p>
        </p:txBody>
      </p:sp>
      <p:pic>
        <p:nvPicPr>
          <p:cNvPr id="3074" name="Picture 2" descr="Rick Ross &amp; Meek Mill Announce Release Date for Joint Album 'Too Good ...">
            <a:extLst>
              <a:ext uri="{FF2B5EF4-FFF2-40B4-BE49-F238E27FC236}">
                <a16:creationId xmlns:a16="http://schemas.microsoft.com/office/drawing/2014/main" id="{2111AD1A-BB92-44E1-9426-15E730C9F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408" y="2106823"/>
            <a:ext cx="3974592" cy="191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116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05180" y="928724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r-HR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Ključne osobe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1305000" y="1962000"/>
            <a:ext cx="3267000" cy="22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Bernie </a:t>
            </a:r>
            <a:r>
              <a:rPr lang="hr-HR" sz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Ebbers</a:t>
            </a: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izvršni direktor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Scott Sullivan – financijski direktor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Jack </a:t>
            </a:r>
            <a:r>
              <a:rPr lang="hr-HR" sz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Grubman</a:t>
            </a: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telekomunikacijski analitičar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Arthur Andersen – vanjski revizor</a:t>
            </a:r>
          </a:p>
        </p:txBody>
      </p:sp>
      <p:pic>
        <p:nvPicPr>
          <p:cNvPr id="4100" name="Picture 4" descr="Bernie Ebbers, Ex-CEO Convicted in WorldCom Scandal, Dies – NBC10 ...">
            <a:extLst>
              <a:ext uri="{FF2B5EF4-FFF2-40B4-BE49-F238E27FC236}">
                <a16:creationId xmlns:a16="http://schemas.microsoft.com/office/drawing/2014/main" id="{008E1E9E-F0C4-4F61-BC24-F33687C9E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301" y="0"/>
            <a:ext cx="3246697" cy="1826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niOkvir 1">
            <a:extLst>
              <a:ext uri="{FF2B5EF4-FFF2-40B4-BE49-F238E27FC236}">
                <a16:creationId xmlns:a16="http://schemas.microsoft.com/office/drawing/2014/main" id="{0062AC74-6C9B-4DDE-BC77-1A76046263EF}"/>
              </a:ext>
            </a:extLst>
          </p:cNvPr>
          <p:cNvSpPr txBox="1"/>
          <p:nvPr/>
        </p:nvSpPr>
        <p:spPr>
          <a:xfrm>
            <a:off x="5897300" y="1846584"/>
            <a:ext cx="32466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9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Bernie </a:t>
            </a:r>
            <a:r>
              <a:rPr lang="hr-HR" sz="9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Ebbers</a:t>
            </a:r>
            <a:endParaRPr lang="hr-HR" sz="9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4" name="Picture 8" descr="Sullivan gets five years for WorldCom fraud">
            <a:extLst>
              <a:ext uri="{FF2B5EF4-FFF2-40B4-BE49-F238E27FC236}">
                <a16:creationId xmlns:a16="http://schemas.microsoft.com/office/drawing/2014/main" id="{4FB6BBEC-C408-48D9-87DC-1A50932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302" y="2977610"/>
            <a:ext cx="3246698" cy="216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kstniOkvir 8">
            <a:extLst>
              <a:ext uri="{FF2B5EF4-FFF2-40B4-BE49-F238E27FC236}">
                <a16:creationId xmlns:a16="http://schemas.microsoft.com/office/drawing/2014/main" id="{A4749EA2-F3EF-451F-910A-8B33BDEB7B85}"/>
              </a:ext>
            </a:extLst>
          </p:cNvPr>
          <p:cNvSpPr txBox="1"/>
          <p:nvPr/>
        </p:nvSpPr>
        <p:spPr>
          <a:xfrm>
            <a:off x="5897302" y="2696832"/>
            <a:ext cx="32466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sz="9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Scott Sullivan</a:t>
            </a:r>
            <a:endParaRPr lang="hr-HR" sz="9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224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05180" y="928724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r-HR" sz="3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Arthur Andersen &amp; Jack </a:t>
            </a:r>
            <a:r>
              <a:rPr lang="hr-HR" sz="30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Grubman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1305000" y="1962000"/>
            <a:ext cx="3267000" cy="22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hr-HR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Arthur Andersen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Vanjski revizor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Potvrdio lažne financijske izvještaje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Kazna (50 </a:t>
            </a:r>
            <a:r>
              <a:rPr lang="hr-HR" sz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mil</a:t>
            </a: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dolara) + propast</a:t>
            </a:r>
          </a:p>
        </p:txBody>
      </p:sp>
      <p:sp>
        <p:nvSpPr>
          <p:cNvPr id="10" name="PlaceHolder 2">
            <a:extLst>
              <a:ext uri="{FF2B5EF4-FFF2-40B4-BE49-F238E27FC236}">
                <a16:creationId xmlns:a16="http://schemas.microsoft.com/office/drawing/2014/main" id="{2FE6F2CD-EE99-4E9B-8941-6AFDDB420041}"/>
              </a:ext>
            </a:extLst>
          </p:cNvPr>
          <p:cNvSpPr txBox="1">
            <a:spLocks/>
          </p:cNvSpPr>
          <p:nvPr/>
        </p:nvSpPr>
        <p:spPr>
          <a:xfrm>
            <a:off x="4572000" y="1962000"/>
            <a:ext cx="3267000" cy="22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hr-HR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Jack </a:t>
            </a:r>
            <a:r>
              <a:rPr lang="hr-HR" sz="12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Grubman</a:t>
            </a:r>
            <a:endParaRPr lang="hr-HR" sz="12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Analitičar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Preporuka „Kupi”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Kazna (15 </a:t>
            </a:r>
            <a:r>
              <a:rPr lang="hr-HR" sz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mil</a:t>
            </a: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dolara) + zabrana rada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hr-HR" sz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5128" name="Picture 8" descr="210+ Gagged Businessman Stock Illustrations, Royalty-Free Vector ...">
            <a:extLst>
              <a:ext uri="{FF2B5EF4-FFF2-40B4-BE49-F238E27FC236}">
                <a16:creationId xmlns:a16="http://schemas.microsoft.com/office/drawing/2014/main" id="{776C47C3-C5D6-499F-B5FD-82826F57E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800" y="3409477"/>
            <a:ext cx="2707200" cy="1734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533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05180" y="928724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r-HR" sz="3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Otkrivanje prijevare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1305000" y="1962000"/>
            <a:ext cx="3267000" cy="22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hr-HR" sz="12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Cynthia</a:t>
            </a:r>
            <a:r>
              <a:rPr lang="hr-HR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Cooper </a:t>
            </a: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(interna revizija)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Sumnjive financijske nepravilnosti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Ignoriranje pritiska uprave</a:t>
            </a:r>
          </a:p>
        </p:txBody>
      </p:sp>
      <p:sp>
        <p:nvSpPr>
          <p:cNvPr id="5" name="PlaceHolder 2">
            <a:extLst>
              <a:ext uri="{FF2B5EF4-FFF2-40B4-BE49-F238E27FC236}">
                <a16:creationId xmlns:a16="http://schemas.microsoft.com/office/drawing/2014/main" id="{24584718-7429-44D5-ADEA-423B24026271}"/>
              </a:ext>
            </a:extLst>
          </p:cNvPr>
          <p:cNvSpPr txBox="1">
            <a:spLocks/>
          </p:cNvSpPr>
          <p:nvPr/>
        </p:nvSpPr>
        <p:spPr>
          <a:xfrm>
            <a:off x="4571820" y="1962000"/>
            <a:ext cx="3267000" cy="22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hr-HR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Gene Morse </a:t>
            </a: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(revizor)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Dodatna potvrda prijevare</a:t>
            </a:r>
          </a:p>
        </p:txBody>
      </p:sp>
      <p:pic>
        <p:nvPicPr>
          <p:cNvPr id="6150" name="Picture 6" descr="Premium Photo | 3D glass blocks spell FRAUD under magnifying glass ...">
            <a:extLst>
              <a:ext uri="{FF2B5EF4-FFF2-40B4-BE49-F238E27FC236}">
                <a16:creationId xmlns:a16="http://schemas.microsoft.com/office/drawing/2014/main" id="{D3CF91E5-9C99-4B14-A3AA-897863235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905" y="2997709"/>
            <a:ext cx="3816096" cy="214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875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05180" y="928724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r-HR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Posljedice</a:t>
            </a:r>
            <a:endParaRPr lang="fr-FR" sz="3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1305000" y="2005456"/>
            <a:ext cx="3267000" cy="22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Bankrot (2002.)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Nastavak poslovanja: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  2004.  MCI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  2006.  Verizon Communications</a:t>
            </a:r>
          </a:p>
        </p:txBody>
      </p:sp>
      <p:sp>
        <p:nvSpPr>
          <p:cNvPr id="5" name="PlaceHolder 2">
            <a:extLst>
              <a:ext uri="{FF2B5EF4-FFF2-40B4-BE49-F238E27FC236}">
                <a16:creationId xmlns:a16="http://schemas.microsoft.com/office/drawing/2014/main" id="{382E3D09-5878-443C-946D-20F6C962D0C9}"/>
              </a:ext>
            </a:extLst>
          </p:cNvPr>
          <p:cNvSpPr txBox="1">
            <a:spLocks/>
          </p:cNvSpPr>
          <p:nvPr/>
        </p:nvSpPr>
        <p:spPr>
          <a:xfrm>
            <a:off x="4572000" y="2005456"/>
            <a:ext cx="3267000" cy="22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Ebbers</a:t>
            </a: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25 godina zatvora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Sullivan – 5 godina zatvora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hr-HR" sz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Zakon </a:t>
            </a:r>
            <a:r>
              <a:rPr lang="hr-HR" sz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Sarbanes-Oxley</a:t>
            </a:r>
            <a:endParaRPr lang="hr-HR" sz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0CF44A89-9C38-4B0F-8C2E-ADCF61CAD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200" y="3786717"/>
            <a:ext cx="1202184" cy="1202184"/>
          </a:xfrm>
          <a:prstGeom prst="rect">
            <a:avLst/>
          </a:prstGeom>
        </p:spPr>
      </p:pic>
      <p:pic>
        <p:nvPicPr>
          <p:cNvPr id="2056" name="Picture 8" descr="MCI Communications — Wikipédia">
            <a:extLst>
              <a:ext uri="{FF2B5EF4-FFF2-40B4-BE49-F238E27FC236}">
                <a16:creationId xmlns:a16="http://schemas.microsoft.com/office/drawing/2014/main" id="{0D5E85FD-FB66-483E-8026-6949D72FC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13" y="3783531"/>
            <a:ext cx="2025287" cy="118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774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05180" y="928724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r-HR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Poveznica s IT-em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1305000" y="1962000"/>
            <a:ext cx="6533640" cy="22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Manipulacija financijskih podataka unutar računovodstvenih sustava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hr-H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Revizori su morali analizirati unose u računovodstvenom sustavu</a:t>
            </a:r>
          </a:p>
        </p:txBody>
      </p:sp>
      <p:pic>
        <p:nvPicPr>
          <p:cNvPr id="1026" name="Picture 2" descr="Poduzetnički menadžment (3): Poduzetničke faze razvoja poduzeća">
            <a:extLst>
              <a:ext uri="{FF2B5EF4-FFF2-40B4-BE49-F238E27FC236}">
                <a16:creationId xmlns:a16="http://schemas.microsoft.com/office/drawing/2014/main" id="{BDE4E9CB-C6EA-4538-B463-DFC2DFC64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800" y="2895888"/>
            <a:ext cx="3571200" cy="2265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821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32D4572-3A30-4F85-9528-F3D7FD55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00" y="2040390"/>
            <a:ext cx="3597480" cy="1062720"/>
          </a:xfrm>
        </p:spPr>
        <p:txBody>
          <a:bodyPr/>
          <a:lstStyle/>
          <a:p>
            <a:r>
              <a:rPr lang="hr-H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Hvala na pozornosti!</a:t>
            </a:r>
          </a:p>
        </p:txBody>
      </p:sp>
      <p:pic>
        <p:nvPicPr>
          <p:cNvPr id="3074" name="Picture 2" descr="Don't Believe Everything You See GIF | GIFDB.com">
            <a:extLst>
              <a:ext uri="{FF2B5EF4-FFF2-40B4-BE49-F238E27FC236}">
                <a16:creationId xmlns:a16="http://schemas.microsoft.com/office/drawing/2014/main" id="{F0FD0987-1397-4290-B3E1-4243F53865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0" r="9379" b="10412"/>
          <a:stretch/>
        </p:blipFill>
        <p:spPr bwMode="auto">
          <a:xfrm>
            <a:off x="4410373" y="0"/>
            <a:ext cx="473362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654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05180" y="928724"/>
            <a:ext cx="6533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r-HR" sz="3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Literatura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1305000" y="1962000"/>
            <a:ext cx="6533640" cy="22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200" dirty="0" err="1">
                <a:hlinkClick r:id="rId2"/>
              </a:rPr>
              <a:t>WorldCom</a:t>
            </a:r>
            <a:r>
              <a:rPr lang="hr-HR" sz="1200" dirty="0">
                <a:hlinkClick r:id="rId2"/>
              </a:rPr>
              <a:t>: Najveći računovodstveni skandal u telekomunikacijskoj povijesti SAD-a - FinanceFacts101</a:t>
            </a:r>
            <a:endParaRPr lang="hr-H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200" dirty="0" err="1">
                <a:hlinkClick r:id="rId3"/>
              </a:rPr>
              <a:t>WorldCom</a:t>
            </a:r>
            <a:r>
              <a:rPr lang="hr-HR" sz="1200" dirty="0">
                <a:hlinkClick r:id="rId3"/>
              </a:rPr>
              <a:t> skandal: Povijest, ključni akteri i otkriće – </a:t>
            </a:r>
            <a:r>
              <a:rPr lang="hr-HR" sz="1200" dirty="0" err="1">
                <a:hlinkClick r:id="rId3"/>
              </a:rPr>
              <a:t>SuperMoney</a:t>
            </a:r>
            <a:endParaRPr lang="hr-H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200" dirty="0" err="1">
                <a:hlinkClick r:id="rId4"/>
              </a:rPr>
              <a:t>WorldCom</a:t>
            </a:r>
            <a:r>
              <a:rPr lang="hr-HR" sz="1200" dirty="0">
                <a:hlinkClick r:id="rId4"/>
              </a:rPr>
              <a:t> skandal: Razotkrivanje prijevare i bankrota</a:t>
            </a:r>
            <a:endParaRPr lang="hr-H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200" dirty="0" err="1">
                <a:hlinkClick r:id="rId5"/>
              </a:rPr>
              <a:t>WorldCom</a:t>
            </a:r>
            <a:r>
              <a:rPr lang="hr-HR" sz="1200" dirty="0">
                <a:hlinkClick r:id="rId5"/>
              </a:rPr>
              <a:t> </a:t>
            </a:r>
            <a:r>
              <a:rPr lang="hr-HR" sz="1200" dirty="0" err="1">
                <a:hlinkClick r:id="rId5"/>
              </a:rPr>
              <a:t>scandal</a:t>
            </a:r>
            <a:r>
              <a:rPr lang="hr-HR" sz="1200" dirty="0">
                <a:hlinkClick r:id="rId5"/>
              </a:rPr>
              <a:t> - Wikipedia</a:t>
            </a:r>
            <a:endParaRPr lang="hr-H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hr-HR" sz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614197"/>
      </p:ext>
    </p:extLst>
  </p:cSld>
  <p:clrMapOvr>
    <a:masterClrMapping/>
  </p:clrMapOvr>
</p:sld>
</file>

<file path=ppt/theme/theme1.xml><?xml version="1.0" encoding="utf-8"?>
<a:theme xmlns:a="http://schemas.openxmlformats.org/drawingml/2006/main" name="Data Science Strategies for Marketing by Slidesgo">
  <a:themeElements>
    <a:clrScheme name="Simple Light">
      <a:dk1>
        <a:srgbClr val="CAFFFF"/>
      </a:dk1>
      <a:lt1>
        <a:srgbClr val="03193F"/>
      </a:lt1>
      <a:dk2>
        <a:srgbClr val="6096A2"/>
      </a:dk2>
      <a:lt2>
        <a:srgbClr val="77BCC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CA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6933</TotalTime>
  <Words>255</Words>
  <Application>Microsoft Office PowerPoint</Application>
  <PresentationFormat>Prikaz na zaslonu (16:9)</PresentationFormat>
  <Paragraphs>61</Paragraphs>
  <Slides>11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8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11</vt:i4>
      </vt:variant>
    </vt:vector>
  </HeadingPairs>
  <TitlesOfParts>
    <vt:vector size="21" baseType="lpstr">
      <vt:lpstr>Advent Pro</vt:lpstr>
      <vt:lpstr>Arial</vt:lpstr>
      <vt:lpstr>Assistant</vt:lpstr>
      <vt:lpstr>Calibri</vt:lpstr>
      <vt:lpstr>OpenSymbol</vt:lpstr>
      <vt:lpstr>Symbol</vt:lpstr>
      <vt:lpstr>Times New Roman</vt:lpstr>
      <vt:lpstr>Wingdings</vt:lpstr>
      <vt:lpstr>Data Science Strategies for Marketing by Slidesgo</vt:lpstr>
      <vt:lpstr>Slidesgo Final Pages</vt:lpstr>
      <vt:lpstr>STUDIJA SLUČAJA: Worldcom</vt:lpstr>
      <vt:lpstr>Worldcom</vt:lpstr>
      <vt:lpstr>Financijski problemi</vt:lpstr>
      <vt:lpstr>Računovodstvene tehnike</vt:lpstr>
      <vt:lpstr>Ključne osobe</vt:lpstr>
      <vt:lpstr>Arthur Andersen &amp; Jack Grubman</vt:lpstr>
      <vt:lpstr>Otkrivanje prijevare</vt:lpstr>
      <vt:lpstr>Posljedice</vt:lpstr>
      <vt:lpstr>Poveznica s IT-em</vt:lpstr>
      <vt:lpstr>Hvala na pozornosti!</vt:lpstr>
      <vt:lpstr>Literatura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Studija slučaja: Worldcom</dc:title>
  <cp:lastModifiedBy>anastazijasirol@gmail.com</cp:lastModifiedBy>
  <cp:revision>62</cp:revision>
  <dcterms:modified xsi:type="dcterms:W3CDTF">2026-04-01T13:04:18Z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2026-03-27T15:38:53Z</dcterms:created>
  <dc:creator>Unknown Creator</dc:creator>
  <dc:description/>
  <dc:language>en-US</dc:language>
  <cp:lastModifiedBy>Unknown Creator</cp:lastModifiedBy>
  <dcterms:modified xsi:type="dcterms:W3CDTF">2026-03-27T15:38:53Z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